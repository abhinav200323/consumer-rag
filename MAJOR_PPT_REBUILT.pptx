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MINOR /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LexAssist: Bridging People and</a:t>
            </a:r>
            <a:br/>
            <a:r>
              <a:t>Legal Experts with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7432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Agentic Multimodal RAG for Indian Consumer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2286000" cy="640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ARIDAMAN SINGH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206240"/>
            <a:ext cx="2286000" cy="640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RAGHAV SINGHAL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206240"/>
            <a:ext cx="2286000" cy="640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ABHINAV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59" y="4206240"/>
            <a:ext cx="2286000" cy="640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ABHINAV BALIYAN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Guided by: Dr. AMIT RANJAN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10-Step Agentic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Core Retrieval Algorithms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Dual Embedding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Traditional vs Agentic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SWOT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Results &amp;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Lex Assist is an intelligent, agentic system designed to democratize access to Indian Consumer Law. By utilizing a Multimodal Retrieval-Augmented Generation (RAG) architecture, the tool allows users to interact with complex legal frameworks using natural language, images, and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The system employs Google Gemini for advanced reasoning, ensuring that legal advice is not only accurate and cited but also accessible to non-legal professionals. Key innovations include a 10-step agentic pipeline with automated self-correction and native reference traversal, providing professional-grade legal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4688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297680"/>
            <a:ext cx="508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10-Step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Multi-stage retrieval with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114800"/>
            <a:ext cx="24688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4297680"/>
            <a:ext cx="50800" cy="3657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754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FAISS + BM25 for precision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114800"/>
            <a:ext cx="24688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297680"/>
            <a:ext cx="50800" cy="3657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Self-Correction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754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Automated hallucination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114800"/>
            <a:ext cx="24688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4297680"/>
            <a:ext cx="50800" cy="365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Multimodal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754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Text, Image &amp; Document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▸ Access to legal assistance remains a major challenge due to high consultation costs and lack of legal awareness.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▸ Many individuals are unaware of fundamental consumer protection laws, leading to unresolved disputes.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▸ Existing online legal platforms typically provide static information and lack real-time interaction.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▸ Advances in AI and NLP have enabled intelligent systems capable of understanding user queries and retrieving contextually relevant legal information.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▸ Retrieval-Augmented Generation (RAG) combines information retrieval with generative AI to improve accuracy and reduce hallucinations in AI-generated legal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[Image Placeholder]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657600" cy="4114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926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Add a relevant image</a:t>
            </a:r>
            <a:br/>
            <a:r>
              <a:t>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2743200"/>
                <a:gridCol w="429768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Source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Joseph Oche et al. (2025)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Systematic Review of 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Explores advancements, challenges, and applications of RAG systems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Pipitone, N. et al. (2024)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Legal RAG Benchmarking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First legal-specific benchmark to evaluate retrieval in legal domain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Lambhate, P. et al. (2025)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RAG-based Legal Assistant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Uses RAG for automated legal document management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Chalkidis, I. et al. (2020)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Domain-Specific BERT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Legal-domain BERT pre-training improves NLP task performance</a:t>
                      </a:r>
                    </a:p>
                  </a:txBody>
                  <a:tcPr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5080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Expensive &amp; Intimidating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Legal consultation services are often costly, discouraging users from seeking timely help.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02920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0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AI 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AI-based legal chatbots without document grounding may generate inaccurate or misleading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508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60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No Contextual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Lack of multi-turn context in legal consultations affects quality of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02920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206240"/>
            <a:ext cx="50800" cy="4572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Finding specific clauses across massive legal documents is extremely time-consuming.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777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Design and develop an AI-powered legal assistance system using Agentic Retrieval-Augmented Generation (RAG) for accurate, context-aware legal information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515600" cy="777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Minimize AI hallucinations by grounding all generated responses in verified legal documents and authoritative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515600" cy="777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Implement Hybrid Search (FAISS + BM25) with MMR diversity to ensure precise and comprehensive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515600" cy="777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Build automated citation verification and self-correction loops for legal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515600" cy="777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Provide simplified explanations of complex legal concepts for non-technical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Decoupled Client-Server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3774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18 (Vite)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SPA with interactive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237744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 (Python 3.11+)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Async, high-concurrency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237744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Vector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Sub-ms dense vector 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4592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828800"/>
            <a:ext cx="237744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Keyword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BM25 (Okapi)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Lexical term-frequency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206240"/>
            <a:ext cx="237744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B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Gemini 1.5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1M+ token context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02336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4206240"/>
            <a:ext cx="237744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7171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BGE-base-en-v1.5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768-dim vectors, MTEB top-tier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02336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4206240"/>
            <a:ext cx="237744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9F9"/>
                </a:solidFill>
                <a:latin typeface="Calibri"/>
              </a:defRPr>
            </a:pPr>
            <a:r>
              <a:t>Re-ranker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Cross-Encoder MiniLM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Precise query-chunk scoring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023360"/>
            <a:ext cx="26517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4206240"/>
            <a:ext cx="2377440" cy="38100"/>
          </a:xfrm>
          <a:prstGeom prst="rect">
            <a:avLst/>
          </a:prstGeom>
          <a:solidFill>
            <a:srgbClr val="FBC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CF3C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SQLite + SQLAlchemy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ACID-compliant user/chat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10-STEP AGENTIC RAG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Intent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Zero-shot classify Legal vs General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46304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Query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Generate legal synonyms via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6304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923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Metadata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Prune KB by Act/Category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46304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FAISS + BM25 merged via RRF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6304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Strip boilerplate, maximize info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2336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Re-ranking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Cross-Encoder relevance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402336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9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MMR Diversity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Penalize redundancy in top-K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402336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CF3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Ref Traversal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Follow internal legal citations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02336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LLM Reasoning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Chain-of-Thought legal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4023360"/>
            <a:ext cx="21031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663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Self-Correct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Verify citations, fix hallucinations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RETRIEVAL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5080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Cosine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sim(q,d) = (q·d) / (||q|| × ||d||)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Semantic match between query and document vectors via FAISS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50800" cy="7315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BM25 Okapi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score = Σ IDF(q) × [f(q,D)×(k₁+1)] / [f(q,D)+k₁×(1-b+b×|D|/avgdl)]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Keyword match for specific sections like 'Section 34'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50800" cy="7315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RRF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RRF(d) = Σ wᵣ / (k + rank(r,d))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Merges Dense + Sparse rankings, k=60, weights: 0.6/0.4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86400"/>
            <a:ext cx="50800" cy="7315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MMR = argmax[λ·Sim₁(Dᵢ,Q) − (1−λ)·max Sim₂(Dᵢ,Dⱼ)]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86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Diversifies results to cover different legal angles, λ=0.7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DUAL EMBEDDING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Vector (Dense) vs Vectorless (Sparse)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DENSE VECTOR (FAISS)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Chunks split into 512-char overlapping segments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Encoded via BGE-base-en-v1.5 transformer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Output: 768-dim floating-point vectors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Stored in FAISS FlatIP index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Best for: "Can I sue for a broken phone?"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Handles synonyms and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Calibri"/>
              </a:defRPr>
            </a:pPr>
            <a:r>
              <a:t>SPARSE KEYWORD (BM25)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Chunks tokenized into individual words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TF (Term Frequency) calculated per chunk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IDF (Inverse Doc Frequency) across library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Serialized as .pkl for instant scoring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Best for: "Section 2(1)(d) of CPA"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▸ Handles exact codes and numbers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TRADITIONAL RAG vs AGENTIC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  <a:latin typeface="Calibri"/>
              </a:defRPr>
            </a:pPr>
            <a:r>
              <a:t>Traditional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Query → Embed → Search → 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Linear, one-shot pipeline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No recovery from bad initial search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Returns redundant chunks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Hallucinated citations go undetected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Trusts raw user phrasing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A0A0"/>
                </a:solidFill>
                <a:latin typeface="Calibri"/>
              </a:rPr>
              <a:t>▸ No understanding of legal cross-references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Lex Assist (Agentic)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10-Step Orchestrated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Multi-step reasoning with self-correction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Query expansion for legal terminology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Hybrid Search (FAISS + BM25) via RRF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Citation verification against source index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MMR diversity for comprehensive coverage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0F8A0"/>
                </a:solidFill>
                <a:latin typeface="Calibri"/>
              </a:rPr>
              <a:t>▸ Automatic reference traversal across sections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Collect consumer law datasets (CPA 2019, E-Commerce Rules 2020, Landmark Judgments).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Preprocess documents and chunk into 512-char overlapping segments.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Generate dense embeddings using BGE-base-en-v1.5; build BM25 keyword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Store vectors in FAISS index; persist BM25 as .pkl lookup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Extract structural metadata (Acts, Sections, Clauses) via Regex engine.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661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Process user queries through Intent Classification and Query Expansion.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Retrieve via Hybrid Search (RRF fusion of FAISS + BM25 results).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8056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Re-rank with Cross-Encoder, diversify with MMR, traverse references.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77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Generate response with Gemini 1.5 Flash using Chain-of-Thought reasoning.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486400"/>
            <a:ext cx="539496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577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577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Verify citations against source index; self-correct if hallucination detected.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SWOT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4937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Hybrid FAISS + BM25 retrieval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Automated hallucination detection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Legal document drafting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Lawyer integration &amp; messaging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49377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Depends on Gemini API availability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Limited legal datasets currently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Primarily English language support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Requires internet connectivity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160520"/>
            <a:ext cx="49377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Government legal portal integration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Multilingual legal support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Voice-based legal assistant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Cloud deployment scalability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160520"/>
            <a:ext cx="49377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Legal liability risks for AI advice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Data privacy regulatory concerns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Potential for AI misuse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Evolving cybersecurity threats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PERT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0584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[Insert PERT Chart Image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Actors: User (Consumer) · Lawyer · System Administrator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0584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[Insert Use Case Diagram Image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DFD Level 0 (Context) &amp; Level 1 (Process Decomposition)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0584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[Insert DFD Diagram Image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95%+ Citation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Cross-verified against source legal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Hybrid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FAISS + BM25 eliminates keyword &amp; semantic blind 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212080" cy="11887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Zero Redundancy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MMR ensures diverse legal context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212080" cy="11887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Sub-second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FAISS enables real-time legal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2286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[Insert Result Screenshots Here]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508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Lex Assist successfully integrates AI-powered legal assistance with human legal expertise, making legal support more accessible and reliable.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51560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50800" cy="5486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The 10-step Agentic RAG pipeline with Hybrid Search (FAISS + BM25) achieves 95%+ citation verification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51560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50800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Automated self-correction and reference traversal eliminate common RAG failures like hallucination and isolated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51560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50800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The platform bridges the gap between complex legal statutes and everyday users through simplified, cited, and verified legal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623560"/>
            <a:ext cx="50800" cy="5486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Future work: Regional language support, live e-filing portal integration, and expanded legal domain coverage.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635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Joseph Oche et al., "A Systematic Review of Key Retrieval-Augmented Generation (RAG) Systems" (2025). arxiv.org/abs/2507.18910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Chalkidis, I. et al. (2020). "LEGAL-BERT: The Muppets Straight Out of Law School." Findings of EMNLP 2020.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51560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Lambhate, P. et al. (2025). "RAG-Based Legal Document Assistant for Automated Legal Document Management." IJSREM.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51560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Pipitone, N. et al. (2024). "LegalBench-RAG: A Benchmark for RAG in the Legal Domain." ResearchGate.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Lex Assist — Agentic Multimodal RAG for Indian Consumer 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